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Artificial Intelligence</a:t>
            </a:r>
          </a:p>
          <a:p>
            <a:pPr>
              <a:spcBef>
                <a:spcPts val="2000"/>
              </a:spcBef>
              <a:defRPr sz="2400">
                <a:solidFill>
                  <a:srgbClr val="5DA0E8"/>
                </a:solidFill>
              </a:defRPr>
            </a:pPr>
            <a:r>
              <a:t>An Overview of AI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BCC"/>
                </a:solidFill>
              </a:defRPr>
            </a:pPr>
            <a:r>
              <a:t>June 2026 | Technology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C3E6B"/>
                </a:solidFill>
              </a:defRPr>
            </a:pPr>
            <a:r>
              <a:t>1. What is Artificial Intelligence?</a:t>
            </a:r>
          </a:p>
          <a:p>
            <a:pPr>
              <a:spcBef>
                <a:spcPts val="1400"/>
              </a:spcBef>
              <a:defRPr sz="2000">
                <a:solidFill>
                  <a:srgbClr val="2C3E6B"/>
                </a:solidFill>
              </a:defRPr>
            </a:pPr>
            <a:r>
              <a:t>2. History of AI</a:t>
            </a:r>
          </a:p>
          <a:p>
            <a:pPr>
              <a:spcBef>
                <a:spcPts val="1400"/>
              </a:spcBef>
              <a:defRPr sz="2000">
                <a:solidFill>
                  <a:srgbClr val="2C3E6B"/>
                </a:solidFill>
              </a:defRPr>
            </a:pPr>
            <a:r>
              <a:t>3. Types of AI</a:t>
            </a:r>
          </a:p>
          <a:p>
            <a:pPr>
              <a:spcBef>
                <a:spcPts val="1400"/>
              </a:spcBef>
              <a:defRPr sz="2000">
                <a:solidFill>
                  <a:srgbClr val="2C3E6B"/>
                </a:solidFill>
              </a:defRPr>
            </a:pPr>
            <a:r>
              <a:t>4. Key Applications</a:t>
            </a:r>
          </a:p>
          <a:p>
            <a:pPr>
              <a:spcBef>
                <a:spcPts val="1400"/>
              </a:spcBef>
              <a:defRPr sz="2000">
                <a:solidFill>
                  <a:srgbClr val="2C3E6B"/>
                </a:solidFill>
              </a:defRPr>
            </a:pPr>
            <a:r>
              <a:t>5. Machine Learning &amp; Deep Learning</a:t>
            </a:r>
          </a:p>
          <a:p>
            <a:pPr>
              <a:spcBef>
                <a:spcPts val="1400"/>
              </a:spcBef>
              <a:defRPr sz="2000">
                <a:solidFill>
                  <a:srgbClr val="2C3E6B"/>
                </a:solidFill>
              </a:defRPr>
            </a:pPr>
            <a:r>
              <a:t>6. AI in Everyday Life</a:t>
            </a:r>
          </a:p>
          <a:p>
            <a:pPr>
              <a:spcBef>
                <a:spcPts val="1400"/>
              </a:spcBef>
              <a:defRPr sz="2000">
                <a:solidFill>
                  <a:srgbClr val="2C3E6B"/>
                </a:solidFill>
              </a:defRPr>
            </a:pPr>
            <a:r>
              <a:t>7. Challenges &amp; Ethics</a:t>
            </a:r>
          </a:p>
          <a:p>
            <a:pPr>
              <a:spcBef>
                <a:spcPts val="1400"/>
              </a:spcBef>
              <a:defRPr sz="2000">
                <a:solidFill>
                  <a:srgbClr val="2C3E6B"/>
                </a:solidFill>
              </a:defRPr>
            </a:pPr>
            <a:r>
              <a:t>8. The Future of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5156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>
                <a:solidFill>
                  <a:srgbClr val="1B2A4A"/>
                </a:solidFill>
              </a:defRPr>
            </a:pPr>
            <a:r>
              <a:t>Artificial Intelligence (AI) is the simulation of human intelligence by machines</a:t>
            </a:r>
          </a:p>
          <a:p>
            <a:pPr>
              <a:defRPr sz="2000">
                <a:solidFill>
                  <a:srgbClr val="1B2A4A"/>
                </a:solidFill>
              </a:defRPr>
            </a:pPr>
            <a:r>
              <a:t>that are programmed to think, learn, and make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2C3E6B"/>
                </a:solidFill>
              </a:defRPr>
            </a:pPr>
            <a:r>
              <a:t>•  Mimics cognitive functions like learning and problem-solving</a:t>
            </a:r>
          </a:p>
          <a:p>
            <a:pPr>
              <a:spcBef>
                <a:spcPts val="1200"/>
              </a:spcBef>
              <a:defRPr sz="1800">
                <a:solidFill>
                  <a:srgbClr val="2C3E6B"/>
                </a:solidFill>
              </a:defRPr>
            </a:pPr>
            <a:r>
              <a:t>•  Can process vast amounts of data rapidly</a:t>
            </a:r>
          </a:p>
          <a:p>
            <a:pPr>
              <a:spcBef>
                <a:spcPts val="1200"/>
              </a:spcBef>
              <a:defRPr sz="1800">
                <a:solidFill>
                  <a:srgbClr val="2C3E6B"/>
                </a:solidFill>
              </a:defRPr>
            </a:pPr>
            <a:r>
              <a:t>•  Improves over time through experience (Machine Learning)</a:t>
            </a:r>
          </a:p>
          <a:p>
            <a:pPr>
              <a:spcBef>
                <a:spcPts val="1200"/>
              </a:spcBef>
              <a:defRPr sz="1800">
                <a:solidFill>
                  <a:srgbClr val="2C3E6B"/>
                </a:solidFill>
              </a:defRPr>
            </a:pPr>
            <a:r>
              <a:t>•  Ranges from narrow/specific tasks to general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History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371600" cy="45720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1950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55448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Alan Turing proposes the Turing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67712"/>
            <a:ext cx="1371600" cy="45720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1956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67712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Term 'Artificial Intelligence' coined at Dartmouth Conference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80944"/>
            <a:ext cx="1371600" cy="45720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1966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80944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ELIZA chatbot created at 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94176"/>
            <a:ext cx="1371600" cy="45720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694176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IBM Deep Blue defeats chess champion Garry Kasparov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07408"/>
            <a:ext cx="1371600" cy="45720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407408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IBM Watson wins Jeopardy!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120640"/>
            <a:ext cx="1371600" cy="45720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12064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Google DeepMind's AlphaGo defeats Go champion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833872"/>
            <a:ext cx="1371600" cy="45720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2022+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833872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Large Language Models (ChatGPT, etc.) transform AI landscape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Types of Artificial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474720" cy="457200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DA0E8"/>
                </a:solidFill>
              </a:defRPr>
            </a:pPr>
            <a:r>
              <a:t>Narrow AI (ANI)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Designed for a specific</a:t>
            </a:r>
            <a:br/>
            <a:r>
              <a:t>task. Most AI today</a:t>
            </a:r>
            <a:br/>
            <a:r>
              <a:t>falls into this category.</a:t>
            </a:r>
            <a:br/>
            <a:br/>
            <a:r>
              <a:t>Examples:</a:t>
            </a:r>
            <a:br/>
            <a:r>
              <a:t>- Siri / Alexa</a:t>
            </a:r>
            <a:br/>
            <a:r>
              <a:t>- Spam filters</a:t>
            </a:r>
            <a:br/>
            <a:r>
              <a:t>- Recommendation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474720" cy="457200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DA0E8"/>
                </a:solidFill>
              </a:defRPr>
            </a:pPr>
            <a:r>
              <a:t>General AI (AGI)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Hypothetical AI with</a:t>
            </a:r>
            <a:br/>
            <a:r>
              <a:t>human-level intelligence</a:t>
            </a:r>
            <a:br/>
            <a:r>
              <a:t>across all domains.</a:t>
            </a:r>
            <a:br/>
            <a:br/>
            <a:r>
              <a:t>Capabilities:</a:t>
            </a:r>
            <a:br/>
            <a:r>
              <a:t>- Reasoning</a:t>
            </a:r>
            <a:br/>
            <a:r>
              <a:t>- Learning</a:t>
            </a:r>
            <a:br/>
            <a:r>
              <a:t>- Understanding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474720" cy="457200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82880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DA0E8"/>
                </a:solidFill>
              </a:defRPr>
            </a:pPr>
            <a:r>
              <a:t>Super AI (ASI)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603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Theoretical AI that</a:t>
            </a:r>
            <a:br/>
            <a:r>
              <a:t>surpasses human</a:t>
            </a:r>
            <a:br/>
            <a:r>
              <a:t>intelligence entirely.</a:t>
            </a:r>
            <a:br/>
            <a:br/>
            <a:r>
              <a:t>Characteristics:</a:t>
            </a:r>
            <a:br/>
            <a:r>
              <a:t>- Self-aware</a:t>
            </a:r>
            <a:br/>
            <a:r>
              <a:t>- Creative</a:t>
            </a:r>
            <a:br/>
            <a:r>
              <a:t>- Emotionally intelligent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Key Applications of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A7BD5"/>
                </a:solidFill>
              </a:defRPr>
            </a:pPr>
            <a:r>
              <a:t>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Disease diagnosis, drug</a:t>
            </a:r>
            <a:br/>
            <a:r>
              <a:t>discovery, medical imaging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64592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82880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A7BD5"/>
                </a:solidFill>
              </a:defRPr>
            </a:pPr>
            <a:r>
              <a:t>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Fraud detection, algorithmic</a:t>
            </a:r>
            <a:br/>
            <a:r>
              <a:t>trading, risk assessment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64592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82880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A7BD5"/>
                </a:solidFill>
              </a:defRPr>
            </a:pPr>
            <a:r>
              <a:t>Transportation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Self-driving cars, traffic</a:t>
            </a:r>
            <a:br/>
            <a:r>
              <a:t>optimization, logistics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A7BD5"/>
                </a:solidFill>
              </a:defRPr>
            </a:pPr>
            <a:r>
              <a:t>Education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Personalized learning,</a:t>
            </a:r>
            <a:br/>
            <a:r>
              <a:t>automated grading, tutoring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11480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42976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A7BD5"/>
                </a:solidFill>
              </a:defRPr>
            </a:pPr>
            <a:r>
              <a:t>Entertainment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9377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Content recommendations,</a:t>
            </a:r>
            <a:br/>
            <a:r>
              <a:t>game AI, content creation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11480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42976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A7BD5"/>
                </a:solidFill>
              </a:defRPr>
            </a:pPr>
            <a:r>
              <a:t>Manufacturing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9377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B2A4A"/>
                </a:solidFill>
              </a:defRPr>
            </a:pPr>
            <a:r>
              <a:t>Quality control, predictive</a:t>
            </a:r>
            <a:br/>
            <a:r>
              <a:t>maintenance, robotics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Machine Learning &amp; Deep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A7BD5"/>
                </a:solidFill>
              </a:defRPr>
            </a:pPr>
            <a:r>
              <a:t>Machine Learning</a:t>
            </a:r>
          </a:p>
          <a:p>
            <a:pPr>
              <a:spcBef>
                <a:spcPts val="1000"/>
              </a:spcBef>
              <a:defRPr sz="1500">
                <a:solidFill>
                  <a:srgbClr val="1B2A4A"/>
                </a:solidFill>
              </a:defRPr>
            </a:pPr>
            <a:r>
              <a:t>•  Subset of AI that learns from data</a:t>
            </a:r>
          </a:p>
          <a:p>
            <a:pPr>
              <a:spcBef>
                <a:spcPts val="1000"/>
              </a:spcBef>
              <a:defRPr sz="1500">
                <a:solidFill>
                  <a:srgbClr val="1B2A4A"/>
                </a:solidFill>
              </a:defRPr>
            </a:pPr>
            <a:r>
              <a:t>•  Types: Supervised, Unsupervised, Reinforcement</a:t>
            </a:r>
          </a:p>
          <a:p>
            <a:pPr>
              <a:spcBef>
                <a:spcPts val="1000"/>
              </a:spcBef>
              <a:defRPr sz="1500">
                <a:solidFill>
                  <a:srgbClr val="1B2A4A"/>
                </a:solidFill>
              </a:defRPr>
            </a:pPr>
            <a:r>
              <a:t>•  Uses algorithms to identify patterns</a:t>
            </a:r>
          </a:p>
          <a:p>
            <a:pPr>
              <a:spcBef>
                <a:spcPts val="1000"/>
              </a:spcBef>
              <a:defRPr sz="1500">
                <a:solidFill>
                  <a:srgbClr val="1B2A4A"/>
                </a:solidFill>
              </a:defRPr>
            </a:pPr>
            <a:r>
              <a:t>•  Improves with more data and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303520" cy="4572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39C12"/>
                </a:solidFill>
              </a:defRPr>
            </a:pPr>
            <a:r>
              <a:t>Deep Learning</a:t>
            </a:r>
          </a:p>
          <a:p>
            <a:pPr>
              <a:spcBef>
                <a:spcPts val="1000"/>
              </a:spcBef>
              <a:defRPr sz="1500">
                <a:solidFill>
                  <a:srgbClr val="1B2A4A"/>
                </a:solidFill>
              </a:defRPr>
            </a:pPr>
            <a:r>
              <a:t>•  Subset of ML using neural networks</a:t>
            </a:r>
          </a:p>
          <a:p>
            <a:pPr>
              <a:spcBef>
                <a:spcPts val="1000"/>
              </a:spcBef>
              <a:defRPr sz="1500">
                <a:solidFill>
                  <a:srgbClr val="1B2A4A"/>
                </a:solidFill>
              </a:defRPr>
            </a:pPr>
            <a:r>
              <a:t>•  Inspired by human brain structure</a:t>
            </a:r>
          </a:p>
          <a:p>
            <a:pPr>
              <a:spcBef>
                <a:spcPts val="1000"/>
              </a:spcBef>
              <a:defRPr sz="1500">
                <a:solidFill>
                  <a:srgbClr val="1B2A4A"/>
                </a:solidFill>
              </a:defRPr>
            </a:pPr>
            <a:r>
              <a:t>•  Excels at: image/speech recognition</a:t>
            </a:r>
          </a:p>
          <a:p>
            <a:pPr>
              <a:spcBef>
                <a:spcPts val="1000"/>
              </a:spcBef>
              <a:defRPr sz="1500">
                <a:solidFill>
                  <a:srgbClr val="1B2A4A"/>
                </a:solidFill>
              </a:defRPr>
            </a:pPr>
            <a:r>
              <a:t>•  Powers: GPT, DALL-E, self-driving cars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Challenges &amp; Ethical Considerations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691639"/>
            <a:ext cx="274320" cy="2743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5087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DA0E8"/>
                </a:solidFill>
              </a:defRPr>
            </a:pPr>
            <a:r>
              <a:t>Bias &amp; Fairness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508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AI systems can perpetuate or amplify existing biases in training data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532888"/>
            <a:ext cx="274320" cy="2743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350008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DA0E8"/>
                </a:solidFill>
              </a:defRPr>
            </a:pPr>
            <a:r>
              <a:t>Privacy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35000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Large-scale data collection raises serious privacy concerns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374136"/>
            <a:ext cx="274320" cy="2743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191256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DA0E8"/>
                </a:solidFill>
              </a:defRPr>
            </a:pPr>
            <a:r>
              <a:t>Job Displacement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91256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Automation may replace certain jobs, requiring workforce adaptation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215384"/>
            <a:ext cx="274320" cy="2743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032504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DA0E8"/>
                </a:solidFill>
              </a:defRPr>
            </a:pPr>
            <a:r>
              <a:t>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032504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"Black box" AI models are difficult to interpret and explain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056632"/>
            <a:ext cx="274320" cy="2743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873752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DA0E8"/>
                </a:solidFill>
              </a:defRPr>
            </a:pPr>
            <a: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87375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AI systems can be vulnerable to adversarial attacks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97880"/>
            <a:ext cx="274320" cy="2743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7150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DA0E8"/>
                </a:solidFill>
              </a:defRPr>
            </a:pPr>
            <a:r>
              <a:t>Regulation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7150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Need for governance frameworks to ensure responsible AI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2A4A"/>
                </a:solidFill>
              </a:defRPr>
            </a:pPr>
            <a:r>
              <a:t>The Future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2C3E6B"/>
                </a:solidFill>
              </a:defRPr>
            </a:pPr>
            <a:r>
              <a:t>➤  AI-powered personalized medicine and healthcare</a:t>
            </a:r>
          </a:p>
          <a:p>
            <a:pPr>
              <a:spcBef>
                <a:spcPts val="1600"/>
              </a:spcBef>
              <a:defRPr sz="2000">
                <a:solidFill>
                  <a:srgbClr val="2C3E6B"/>
                </a:solidFill>
              </a:defRPr>
            </a:pPr>
            <a:r>
              <a:t>➤  Autonomous vehicles becoming mainstream</a:t>
            </a:r>
          </a:p>
          <a:p>
            <a:pPr>
              <a:spcBef>
                <a:spcPts val="1600"/>
              </a:spcBef>
              <a:defRPr sz="2000">
                <a:solidFill>
                  <a:srgbClr val="2C3E6B"/>
                </a:solidFill>
              </a:defRPr>
            </a:pPr>
            <a:r>
              <a:t>➤  AI assistants handling complex professional tasks</a:t>
            </a:r>
          </a:p>
          <a:p>
            <a:pPr>
              <a:spcBef>
                <a:spcPts val="1600"/>
              </a:spcBef>
              <a:defRPr sz="2000">
                <a:solidFill>
                  <a:srgbClr val="2C3E6B"/>
                </a:solidFill>
              </a:defRPr>
            </a:pPr>
            <a:r>
              <a:t>➤  Breakthroughs in scientific research accelerated by AI</a:t>
            </a:r>
          </a:p>
          <a:p>
            <a:pPr>
              <a:spcBef>
                <a:spcPts val="1600"/>
              </a:spcBef>
              <a:defRPr sz="2000">
                <a:solidFill>
                  <a:srgbClr val="2C3E6B"/>
                </a:solidFill>
              </a:defRPr>
            </a:pPr>
            <a:r>
              <a:t>➤  Human-AI collaboration as standard in workplaces</a:t>
            </a:r>
          </a:p>
          <a:p>
            <a:pPr>
              <a:spcBef>
                <a:spcPts val="1600"/>
              </a:spcBef>
              <a:defRPr sz="2000">
                <a:solidFill>
                  <a:srgbClr val="2C3E6B"/>
                </a:solidFill>
              </a:defRPr>
            </a:pPr>
            <a:r>
              <a:t>➤  Advances toward Artificial General Intelligence (AGI)</a:t>
            </a:r>
          </a:p>
          <a:p>
            <a:pPr>
              <a:spcBef>
                <a:spcPts val="1600"/>
              </a:spcBef>
              <a:defRPr sz="2000">
                <a:solidFill>
                  <a:srgbClr val="2C3E6B"/>
                </a:solidFill>
              </a:defRPr>
            </a:pPr>
            <a:r>
              <a:t>➤  Stricter AI governance and ethical frameworks globally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3000"/>
              </a:spcBef>
              <a:defRPr sz="2400">
                <a:solidFill>
                  <a:srgbClr val="5DA0E8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029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BBCC"/>
                </a:solidFill>
              </a:defRPr>
            </a:pPr>
            <a:r>
              <a:t>Feel free to reach out for more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